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2749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00D2FF"/>
                </a:solidFill>
              </a:defRPr>
            </a:pPr>
            <a:r>
              <a:rPr dirty="0"/>
              <a:t>МАСТЕРСКАЯ VK И МИЭМ НИУ ВШЭ • 2026/2027</a:t>
            </a:r>
          </a:p>
          <a:p>
            <a:pPr>
              <a:spcAft>
                <a:spcPts val="2000"/>
              </a:spcAft>
              <a:defRPr sz="3600" b="1">
                <a:solidFill>
                  <a:srgbClr val="F5F7FA"/>
                </a:solidFill>
              </a:defRPr>
            </a:pPr>
            <a:r>
              <a:rPr dirty="0"/>
              <a:t>RAG-</a:t>
            </a:r>
            <a:r>
              <a:rPr dirty="0" err="1"/>
              <a:t>помощник</a:t>
            </a:r>
            <a:r>
              <a:rPr dirty="0"/>
              <a:t> </a:t>
            </a:r>
            <a:r>
              <a:rPr dirty="0" err="1"/>
              <a:t>первокурсника</a:t>
            </a:r>
            <a:br>
              <a:rPr dirty="0"/>
            </a:b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учебным</a:t>
            </a:r>
            <a:r>
              <a:rPr dirty="0"/>
              <a:t> </a:t>
            </a:r>
            <a:r>
              <a:rPr dirty="0" err="1"/>
              <a:t>дисциплинам</a:t>
            </a:r>
            <a:r>
              <a:rPr dirty="0"/>
              <a:t> ИВТ</a:t>
            </a:r>
          </a:p>
          <a:p>
            <a:pPr>
              <a:spcAft>
                <a:spcPts val="3200"/>
              </a:spcAft>
              <a:defRPr sz="1600">
                <a:solidFill>
                  <a:srgbClr val="A0AFC8"/>
                </a:solidFill>
              </a:defRPr>
            </a:pPr>
            <a:r>
              <a:rPr dirty="0" err="1"/>
              <a:t>Прототип</a:t>
            </a:r>
            <a:r>
              <a:rPr dirty="0"/>
              <a:t> </a:t>
            </a:r>
            <a:r>
              <a:rPr dirty="0" err="1"/>
              <a:t>интеллектуального</a:t>
            </a:r>
            <a:r>
              <a:rPr dirty="0"/>
              <a:t> </a:t>
            </a:r>
            <a:r>
              <a:rPr dirty="0" err="1"/>
              <a:t>ассистента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базе</a:t>
            </a:r>
            <a:r>
              <a:rPr dirty="0"/>
              <a:t> </a:t>
            </a:r>
            <a:r>
              <a:rPr dirty="0" err="1"/>
              <a:t>LlamaIndex</a:t>
            </a:r>
            <a:r>
              <a:rPr dirty="0"/>
              <a:t>, BM25, Gemini Flash Lite и </a:t>
            </a:r>
            <a:r>
              <a:rPr dirty="0" err="1"/>
              <a:t>Streamlit</a:t>
            </a:r>
            <a:endParaRPr dirty="0"/>
          </a:p>
          <a:p>
            <a:pPr>
              <a:defRPr sz="1400">
                <a:solidFill>
                  <a:srgbClr val="0077FF"/>
                </a:solidFill>
              </a:defRPr>
            </a:pPr>
            <a:r>
              <a:rPr dirty="0" err="1"/>
              <a:t>Автор</a:t>
            </a:r>
            <a:r>
              <a:rPr dirty="0"/>
              <a:t>: </a:t>
            </a:r>
            <a:r>
              <a:rPr dirty="0" err="1"/>
              <a:t>Студент</a:t>
            </a:r>
            <a:r>
              <a:rPr dirty="0"/>
              <a:t> 1 </a:t>
            </a:r>
            <a:r>
              <a:rPr dirty="0" err="1"/>
              <a:t>курса</a:t>
            </a:r>
            <a:r>
              <a:rPr dirty="0"/>
              <a:t> ОП «</a:t>
            </a:r>
            <a:r>
              <a:rPr dirty="0" err="1"/>
              <a:t>Информатика</a:t>
            </a:r>
            <a:r>
              <a:rPr dirty="0"/>
              <a:t> и </a:t>
            </a:r>
            <a:r>
              <a:rPr dirty="0" err="1"/>
              <a:t>вычислительная</a:t>
            </a:r>
            <a:r>
              <a:rPr dirty="0"/>
              <a:t> </a:t>
            </a:r>
            <a:r>
              <a:rPr dirty="0" err="1"/>
              <a:t>техника</a:t>
            </a:r>
            <a:r>
              <a:rPr dirty="0"/>
              <a:t>»</a:t>
            </a:r>
            <a:r>
              <a:rPr lang="en-US" dirty="0"/>
              <a:t> </a:t>
            </a:r>
            <a:r>
              <a:rPr lang="ru-RU" dirty="0" err="1"/>
              <a:t>Биневский</a:t>
            </a:r>
            <a:r>
              <a:rPr lang="ru-RU" dirty="0"/>
              <a:t> Артём Вячеславович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ОТБОРОЧНЫЙ ПРОЕКТ • VK &amp; МИЭМ НИУ ВШЭ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Что делает решение и как: Архитектура пайплайна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500" b="1">
                <a:solidFill>
                  <a:srgbClr val="00D2FF"/>
                </a:solidFill>
              </a:defRPr>
            </a:pPr>
            <a:r>
              <a:t>• 1. Сбор данных (ETL): </a:t>
            </a:r>
            <a:r>
              <a:rPr sz="1400" b="0">
                <a:solidFill>
                  <a:srgbClr val="F5F7FA"/>
                </a:solidFill>
              </a:rPr>
              <a:t>Парсер на Requests и BeautifulSoup скачивает 25 официальных программ дисциплин (ПУД) 1 курса ИВТ с портала hse.ru, сохраняя метаданные и прямые ссылки.</a:t>
            </a:r>
          </a:p>
          <a:p>
            <a:pPr>
              <a:spcAft>
                <a:spcPts val="1200"/>
              </a:spcAft>
              <a:defRPr sz="1500" b="1">
                <a:solidFill>
                  <a:srgbClr val="00D2FF"/>
                </a:solidFill>
              </a:defRPr>
            </a:pPr>
            <a:r>
              <a:t>• 2. Индексация без разрыва связей: </a:t>
            </a:r>
            <a:r>
              <a:rPr sz="1400" b="0">
                <a:solidFill>
                  <a:srgbClr val="F5F7FA"/>
                </a:solidFill>
              </a:rPr>
              <a:t>Использование макро-чанков по 6000 символов гарантирует, что название курса, цели, формулы оценивания и литература остаются в рамках одного документа.</a:t>
            </a:r>
          </a:p>
          <a:p>
            <a:pPr>
              <a:spcAft>
                <a:spcPts val="1200"/>
              </a:spcAft>
              <a:defRPr sz="1500" b="1">
                <a:solidFill>
                  <a:srgbClr val="00D2FF"/>
                </a:solidFill>
              </a:defRPr>
            </a:pPr>
            <a:r>
              <a:t>• 3. Локальный поиск (BM25): </a:t>
            </a:r>
            <a:r>
              <a:rPr sz="1400" b="0">
                <a:solidFill>
                  <a:srgbClr val="F5F7FA"/>
                </a:solidFill>
              </a:rPr>
              <a:t>Алгоритм BM25 выполняет точный полнотекстовый поиск по университетской терминологии за 0.001 сек локально в оперативной памяти.</a:t>
            </a:r>
          </a:p>
          <a:p>
            <a:pPr>
              <a:spcAft>
                <a:spcPts val="1200"/>
              </a:spcAft>
              <a:defRPr sz="1500" b="1">
                <a:solidFill>
                  <a:srgbClr val="00D2FF"/>
                </a:solidFill>
              </a:defRPr>
            </a:pPr>
            <a:r>
              <a:t>• 4. Генерация с защитой от выдумок (LLM): </a:t>
            </a:r>
            <a:r>
              <a:rPr sz="1400" b="0">
                <a:solidFill>
                  <a:srgbClr val="F5F7FA"/>
                </a:solidFill>
              </a:rPr>
              <a:t>Модель Gemini Flash Lite (temperature=0.0) формулирует ответ строго на основе найденного фрагмента ПУД и отказывается отвечать при отсутствии данных.</a:t>
            </a:r>
          </a:p>
          <a:p>
            <a:pPr>
              <a:spcAft>
                <a:spcPts val="1200"/>
              </a:spcAft>
              <a:defRPr sz="1500" b="1">
                <a:solidFill>
                  <a:srgbClr val="00D2FF"/>
                </a:solidFill>
              </a:defRPr>
            </a:pPr>
            <a:r>
              <a:t>• 5. Веб-интерфейс (Streamlit): </a:t>
            </a:r>
            <a:r>
              <a:rPr sz="1400" b="0">
                <a:solidFill>
                  <a:srgbClr val="F5F7FA"/>
                </a:solidFill>
              </a:rPr>
              <a:t>Интерактивный чат с сохранением истории диалога, боковым меню частых вопросов и спойлером с проверенными первоисточниками.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ОТБОРОЧНЫЙ ПРОЕКТ • VK &amp; МИЭМ НИУ ВШЭ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Почему выбран такой подход: Обоснование стека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1500" b="1">
                <a:solidFill>
                  <a:srgbClr val="0077FF"/>
                </a:solidFill>
              </a:defRPr>
            </a:pPr>
            <a:r>
              <a:rPr dirty="0"/>
              <a:t>✔ BM25 </a:t>
            </a:r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облачных</a:t>
            </a:r>
            <a:r>
              <a:rPr dirty="0"/>
              <a:t> </a:t>
            </a:r>
            <a:r>
              <a:rPr dirty="0" err="1"/>
              <a:t>векторов</a:t>
            </a:r>
            <a:r>
              <a:rPr dirty="0"/>
              <a:t> (Embeddings): </a:t>
            </a:r>
            <a:r>
              <a:rPr sz="1400" b="0" dirty="0" err="1">
                <a:solidFill>
                  <a:srgbClr val="F5F7FA"/>
                </a:solidFill>
              </a:rPr>
              <a:t>Исключает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сетевые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задержки</a:t>
            </a:r>
            <a:r>
              <a:rPr sz="1400" b="0" dirty="0">
                <a:solidFill>
                  <a:srgbClr val="F5F7FA"/>
                </a:solidFill>
              </a:rPr>
              <a:t> и </a:t>
            </a:r>
            <a:r>
              <a:rPr sz="1400" b="0" dirty="0" err="1">
                <a:solidFill>
                  <a:srgbClr val="F5F7FA"/>
                </a:solidFill>
              </a:rPr>
              <a:t>строгие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лимиты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бесплатных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квот</a:t>
            </a:r>
            <a:r>
              <a:rPr sz="1400" b="0" dirty="0">
                <a:solidFill>
                  <a:srgbClr val="F5F7FA"/>
                </a:solidFill>
              </a:rPr>
              <a:t> (Rate Limit 429). </a:t>
            </a:r>
            <a:r>
              <a:rPr sz="1400" b="0" dirty="0" err="1">
                <a:solidFill>
                  <a:srgbClr val="F5F7FA"/>
                </a:solidFill>
              </a:rPr>
              <a:t>Обеспечивает</a:t>
            </a:r>
            <a:r>
              <a:rPr sz="1400" b="0" dirty="0">
                <a:solidFill>
                  <a:srgbClr val="F5F7FA"/>
                </a:solidFill>
              </a:rPr>
              <a:t> 100% </a:t>
            </a:r>
            <a:r>
              <a:rPr sz="1400" b="0" dirty="0" err="1">
                <a:solidFill>
                  <a:srgbClr val="F5F7FA"/>
                </a:solidFill>
              </a:rPr>
              <a:t>точное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попадание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по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строгим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академическим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терминам</a:t>
            </a:r>
            <a:r>
              <a:rPr sz="1400" b="0" dirty="0">
                <a:solidFill>
                  <a:srgbClr val="F5F7FA"/>
                </a:solidFill>
              </a:rPr>
              <a:t> («СЛАУ», «</a:t>
            </a:r>
            <a:r>
              <a:rPr sz="1400" b="0" dirty="0" err="1">
                <a:solidFill>
                  <a:srgbClr val="F5F7FA"/>
                </a:solidFill>
              </a:rPr>
              <a:t>СмартЛМС</a:t>
            </a:r>
            <a:r>
              <a:rPr sz="1400" b="0" dirty="0">
                <a:solidFill>
                  <a:srgbClr val="F5F7FA"/>
                </a:solidFill>
              </a:rPr>
              <a:t>», «</a:t>
            </a:r>
            <a:r>
              <a:rPr sz="1400" b="0" dirty="0" err="1">
                <a:solidFill>
                  <a:srgbClr val="F5F7FA"/>
                </a:solidFill>
              </a:rPr>
              <a:t>неблокирующий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элемент</a:t>
            </a:r>
            <a:r>
              <a:rPr sz="1400" b="0" dirty="0">
                <a:solidFill>
                  <a:srgbClr val="F5F7FA"/>
                </a:solidFill>
              </a:rPr>
              <a:t>»).</a:t>
            </a:r>
          </a:p>
          <a:p>
            <a:pPr>
              <a:spcAft>
                <a:spcPts val="1400"/>
              </a:spcAft>
              <a:defRPr sz="1500" b="1">
                <a:solidFill>
                  <a:srgbClr val="0077FF"/>
                </a:solidFill>
              </a:defRPr>
            </a:pPr>
            <a:r>
              <a:rPr dirty="0"/>
              <a:t>✔ Gemini Flash Lite с : </a:t>
            </a:r>
            <a:r>
              <a:rPr sz="1400" b="0" dirty="0" err="1">
                <a:solidFill>
                  <a:srgbClr val="F5F7FA"/>
                </a:solidFill>
              </a:rPr>
              <a:t>Обеспечивает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высокую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скорость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генерации</a:t>
            </a:r>
            <a:r>
              <a:rPr sz="1400" b="0" dirty="0">
                <a:solidFill>
                  <a:srgbClr val="F5F7FA"/>
                </a:solidFill>
              </a:rPr>
              <a:t> и </a:t>
            </a:r>
            <a:r>
              <a:rPr sz="1400" b="0" dirty="0" err="1">
                <a:solidFill>
                  <a:srgbClr val="F5F7FA"/>
                </a:solidFill>
              </a:rPr>
              <a:t>чистый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русский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язык</a:t>
            </a:r>
            <a:r>
              <a:rPr sz="1400" b="0" dirty="0">
                <a:solidFill>
                  <a:srgbClr val="F5F7FA"/>
                </a:solidFill>
              </a:rPr>
              <a:t>. </a:t>
            </a:r>
            <a:r>
              <a:rPr sz="1400" b="0" dirty="0" err="1">
                <a:solidFill>
                  <a:srgbClr val="F5F7FA"/>
                </a:solidFill>
              </a:rPr>
              <a:t>Нулевая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температура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делает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ответы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строгими</a:t>
            </a:r>
            <a:r>
              <a:rPr sz="1400" b="0" dirty="0">
                <a:solidFill>
                  <a:srgbClr val="F5F7FA"/>
                </a:solidFill>
              </a:rPr>
              <a:t>, </a:t>
            </a:r>
            <a:r>
              <a:rPr sz="1400" b="0" dirty="0" err="1">
                <a:solidFill>
                  <a:srgbClr val="F5F7FA"/>
                </a:solidFill>
              </a:rPr>
              <a:t>детермин</a:t>
            </a:r>
            <a:r>
              <a:rPr lang="en-US" sz="1400" dirty="0" err="1"/>
              <a:t>temperature</a:t>
            </a:r>
            <a:r>
              <a:rPr lang="en-US" sz="1400" dirty="0"/>
              <a:t>=0.0</a:t>
            </a:r>
            <a:r>
              <a:rPr sz="1400" b="0" dirty="0">
                <a:solidFill>
                  <a:srgbClr val="F5F7FA"/>
                </a:solidFill>
              </a:rPr>
              <a:t>ированными и </a:t>
            </a:r>
            <a:r>
              <a:rPr sz="1400" b="0" dirty="0" err="1">
                <a:solidFill>
                  <a:srgbClr val="F5F7FA"/>
                </a:solidFill>
              </a:rPr>
              <a:t>исключает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случайные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выдумки</a:t>
            </a:r>
            <a:r>
              <a:rPr sz="1400" b="0" dirty="0">
                <a:solidFill>
                  <a:srgbClr val="F5F7FA"/>
                </a:solidFill>
              </a:rPr>
              <a:t>.</a:t>
            </a:r>
          </a:p>
          <a:p>
            <a:pPr>
              <a:spcAft>
                <a:spcPts val="1400"/>
              </a:spcAft>
              <a:defRPr sz="1500" b="1">
                <a:solidFill>
                  <a:srgbClr val="0077FF"/>
                </a:solidFill>
              </a:defRPr>
            </a:pPr>
            <a:r>
              <a:rPr dirty="0"/>
              <a:t>✔ </a:t>
            </a:r>
            <a:r>
              <a:rPr dirty="0" err="1"/>
              <a:t>Хранение</a:t>
            </a:r>
            <a:r>
              <a:rPr dirty="0"/>
              <a:t> в </a:t>
            </a:r>
            <a:r>
              <a:rPr dirty="0" err="1"/>
              <a:t>виде</a:t>
            </a:r>
            <a:r>
              <a:rPr dirty="0"/>
              <a:t> </a:t>
            </a:r>
            <a:r>
              <a:rPr dirty="0" err="1"/>
              <a:t>цельных</a:t>
            </a:r>
            <a:r>
              <a:rPr dirty="0"/>
              <a:t> </a:t>
            </a:r>
            <a:r>
              <a:rPr dirty="0" err="1"/>
              <a:t>документов</a:t>
            </a:r>
            <a:r>
              <a:rPr dirty="0"/>
              <a:t> (6000 </a:t>
            </a:r>
            <a:r>
              <a:rPr dirty="0" err="1"/>
              <a:t>символов</a:t>
            </a:r>
            <a:r>
              <a:rPr dirty="0"/>
              <a:t>): </a:t>
            </a:r>
            <a:r>
              <a:rPr sz="1400" b="0" dirty="0" err="1">
                <a:solidFill>
                  <a:srgbClr val="F5F7FA"/>
                </a:solidFill>
              </a:rPr>
              <a:t>Классический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чанкинг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по</a:t>
            </a:r>
            <a:r>
              <a:rPr sz="1400" b="0" dirty="0">
                <a:solidFill>
                  <a:srgbClr val="F5F7FA"/>
                </a:solidFill>
              </a:rPr>
              <a:t> 512-1024 </a:t>
            </a:r>
            <a:r>
              <a:rPr sz="1400" b="0" dirty="0" err="1">
                <a:solidFill>
                  <a:srgbClr val="F5F7FA"/>
                </a:solidFill>
              </a:rPr>
              <a:t>токена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разрывал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шапку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курса</a:t>
            </a:r>
            <a:r>
              <a:rPr sz="1400" b="0" dirty="0">
                <a:solidFill>
                  <a:srgbClr val="F5F7FA"/>
                </a:solidFill>
              </a:rPr>
              <a:t> и </a:t>
            </a:r>
            <a:r>
              <a:rPr sz="1400" b="0" dirty="0" err="1">
                <a:solidFill>
                  <a:srgbClr val="F5F7FA"/>
                </a:solidFill>
              </a:rPr>
              <a:t>формулы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контроля</a:t>
            </a:r>
            <a:r>
              <a:rPr sz="1400" b="0" dirty="0">
                <a:solidFill>
                  <a:srgbClr val="F5F7FA"/>
                </a:solidFill>
              </a:rPr>
              <a:t>. </a:t>
            </a:r>
            <a:r>
              <a:rPr sz="1400" b="0" dirty="0" err="1">
                <a:solidFill>
                  <a:srgbClr val="F5F7FA"/>
                </a:solidFill>
              </a:rPr>
              <a:t>Цельный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чанк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гарантирует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контекстную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целостность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для</a:t>
            </a:r>
            <a:r>
              <a:rPr sz="1400" b="0" dirty="0">
                <a:solidFill>
                  <a:srgbClr val="F5F7FA"/>
                </a:solidFill>
              </a:rPr>
              <a:t> 25 </a:t>
            </a:r>
            <a:r>
              <a:rPr sz="1400" b="0" dirty="0" err="1">
                <a:solidFill>
                  <a:srgbClr val="F5F7FA"/>
                </a:solidFill>
              </a:rPr>
              <a:t>небольших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программ</a:t>
            </a:r>
            <a:r>
              <a:rPr sz="1400" b="0" dirty="0">
                <a:solidFill>
                  <a:srgbClr val="F5F7FA"/>
                </a:solidFill>
              </a:rPr>
              <a:t> ВШЭ.</a:t>
            </a:r>
          </a:p>
          <a:p>
            <a:pPr>
              <a:spcAft>
                <a:spcPts val="1400"/>
              </a:spcAft>
              <a:defRPr sz="1500" b="1">
                <a:solidFill>
                  <a:srgbClr val="0077FF"/>
                </a:solidFill>
              </a:defRPr>
            </a:pPr>
            <a:r>
              <a:rPr dirty="0"/>
              <a:t>✔ </a:t>
            </a:r>
            <a:r>
              <a:rPr dirty="0" err="1"/>
              <a:t>Streamlit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: </a:t>
            </a:r>
            <a:r>
              <a:rPr sz="1400" b="0" dirty="0" err="1">
                <a:solidFill>
                  <a:srgbClr val="F5F7FA"/>
                </a:solidFill>
              </a:rPr>
              <a:t>Позволяет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развернуть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полноценный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интерактивный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веб-прототип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без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перегрузки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проекта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фронтенд-фреймворками</a:t>
            </a:r>
            <a:r>
              <a:rPr sz="1400" b="0" dirty="0">
                <a:solidFill>
                  <a:srgbClr val="F5F7FA"/>
                </a:solidFill>
              </a:rPr>
              <a:t>, </a:t>
            </a:r>
            <a:r>
              <a:rPr sz="1400" b="0" dirty="0" err="1">
                <a:solidFill>
                  <a:srgbClr val="F5F7FA"/>
                </a:solidFill>
              </a:rPr>
              <a:t>обеспечивая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легкую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воспроизводимость</a:t>
            </a:r>
            <a:r>
              <a:rPr sz="1400" b="0" dirty="0">
                <a:solidFill>
                  <a:srgbClr val="F5F7F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ОТБОРОЧНЫЙ ПРОЕКТ • VK &amp; МИЭМ НИУ ВШЭ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Результаты тестирования: Бенчмарк на 30 вопросах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600" b="1">
                <a:solidFill>
                  <a:srgbClr val="00D2FF"/>
                </a:solidFill>
              </a:defRPr>
            </a:pPr>
            <a:r>
              <a:t>20 успешных тестов (100% точность извлечения фактов):</a:t>
            </a:r>
          </a:p>
          <a:p>
            <a:pPr>
              <a:spcAft>
                <a:spcPts val="1400"/>
              </a:spcAft>
              <a:defRPr sz="1400">
                <a:solidFill>
                  <a:srgbClr val="F5F7FA"/>
                </a:solidFill>
              </a:defRPr>
            </a:pPr>
            <a:r>
              <a:t>• Точные формулы модулей: веса экзаменов, контрольных работ и домашних заданий (например, сложные веса 2 и 4 модулей по Алгебре).</a:t>
            </a:r>
            <a:br/>
            <a:r>
              <a:t>• Элементы контроля: корректное выявление блокирующих элементов (экзамен по Истории России) и неблокирующих (Матанализ, БЖД).</a:t>
            </a:r>
            <a:br/>
            <a:r>
              <a:t>• Академическое содержание: извлечение авторов и преподавателей, списков литературы, модулей чтения и САПР-пакетов (T-Flex, Компас-3D).</a:t>
            </a:r>
          </a:p>
          <a:p>
            <a:pPr>
              <a:spcAft>
                <a:spcPts val="600"/>
              </a:spcAft>
              <a:defRPr sz="1600" b="1">
                <a:solidFill>
                  <a:srgbClr val="00D2FF"/>
                </a:solidFill>
              </a:defRPr>
            </a:pPr>
            <a:r>
              <a:t>10 стресс-тестов на выявление ограничений:</a:t>
            </a:r>
          </a:p>
          <a:p>
            <a:pPr>
              <a:spcAft>
                <a:spcPts val="1400"/>
              </a:spcAft>
              <a:defRPr sz="1400">
                <a:solidFill>
                  <a:srgbClr val="F5F7FA"/>
                </a:solidFill>
              </a:defRPr>
            </a:pPr>
            <a:r>
              <a:t>• Проверка устойчивости к вопросам-ловушкам и несуществующим экзаменам (отсутствие галлюцинаций).</a:t>
            </a:r>
            <a:br/>
            <a:r>
              <a:t>• Тестирование вопросов вне предметной области ПУД и неформального студенческого сленга.</a:t>
            </a:r>
            <a:br/>
            <a:r>
              <a:t>• Все 30 тестов с ответами и анализом ограничений зафиксированы в benchmark_results.md.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ОТБОРОЧНЫЙ ПРОЕКТ • VK &amp; МИЭМ НИУ ВШЭ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Где решение может ошибаться: Анализ проблемных зон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500" b="1">
                <a:solidFill>
                  <a:srgbClr val="FF8C32"/>
                </a:solidFill>
              </a:defRPr>
            </a:pPr>
            <a:r>
              <a:rPr dirty="0"/>
              <a:t>⚠ 1. </a:t>
            </a:r>
            <a:r>
              <a:rPr dirty="0" err="1"/>
              <a:t>Студенческий</a:t>
            </a:r>
            <a:r>
              <a:rPr dirty="0"/>
              <a:t> </a:t>
            </a:r>
            <a:r>
              <a:rPr dirty="0" err="1"/>
              <a:t>сленг</a:t>
            </a:r>
            <a:r>
              <a:rPr dirty="0"/>
              <a:t> и </a:t>
            </a:r>
            <a:r>
              <a:rPr dirty="0" err="1"/>
              <a:t>неформальная</a:t>
            </a:r>
            <a:r>
              <a:rPr dirty="0"/>
              <a:t> </a:t>
            </a:r>
            <a:r>
              <a:rPr dirty="0" err="1"/>
              <a:t>речь</a:t>
            </a:r>
            <a:r>
              <a:rPr dirty="0"/>
              <a:t>: </a:t>
            </a:r>
            <a:r>
              <a:rPr sz="1400" b="0" dirty="0" err="1">
                <a:solidFill>
                  <a:srgbClr val="F5F7FA"/>
                </a:solidFill>
              </a:rPr>
              <a:t>Запросы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вида</a:t>
            </a:r>
            <a:r>
              <a:rPr sz="1400" b="0" dirty="0">
                <a:solidFill>
                  <a:srgbClr val="F5F7FA"/>
                </a:solidFill>
              </a:rPr>
              <a:t> «в </a:t>
            </a:r>
            <a:r>
              <a:rPr sz="1400" b="0" dirty="0" err="1">
                <a:solidFill>
                  <a:srgbClr val="F5F7FA"/>
                </a:solidFill>
              </a:rPr>
              <a:t>чем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прикол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матана</a:t>
            </a:r>
            <a:r>
              <a:rPr sz="1400" b="0" dirty="0">
                <a:solidFill>
                  <a:srgbClr val="F5F7FA"/>
                </a:solidFill>
              </a:rPr>
              <a:t>» </a:t>
            </a:r>
            <a:r>
              <a:rPr sz="1400" b="0" dirty="0" err="1">
                <a:solidFill>
                  <a:srgbClr val="F5F7FA"/>
                </a:solidFill>
              </a:rPr>
              <a:t>не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сопоставляются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поисковиком</a:t>
            </a:r>
            <a:r>
              <a:rPr sz="1400" b="0" dirty="0">
                <a:solidFill>
                  <a:srgbClr val="F5F7FA"/>
                </a:solidFill>
              </a:rPr>
              <a:t> с </a:t>
            </a:r>
            <a:r>
              <a:rPr sz="1400" b="0" dirty="0" err="1">
                <a:solidFill>
                  <a:srgbClr val="F5F7FA"/>
                </a:solidFill>
              </a:rPr>
              <a:t>академическим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текстом</a:t>
            </a:r>
            <a:r>
              <a:rPr sz="1400" b="0" dirty="0">
                <a:solidFill>
                  <a:srgbClr val="F5F7FA"/>
                </a:solidFill>
              </a:rPr>
              <a:t> («</a:t>
            </a:r>
            <a:r>
              <a:rPr sz="1400" b="0" dirty="0" err="1">
                <a:solidFill>
                  <a:srgbClr val="F5F7FA"/>
                </a:solidFill>
              </a:rPr>
              <a:t>Цели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освоения</a:t>
            </a:r>
            <a:r>
              <a:rPr sz="1400" b="0" dirty="0">
                <a:solidFill>
                  <a:srgbClr val="F5F7FA"/>
                </a:solidFill>
              </a:rPr>
              <a:t>»), </a:t>
            </a:r>
            <a:r>
              <a:rPr sz="1400" b="0" dirty="0" err="1">
                <a:solidFill>
                  <a:srgbClr val="F5F7FA"/>
                </a:solidFill>
              </a:rPr>
              <a:t>что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приводит</a:t>
            </a:r>
            <a:r>
              <a:rPr sz="1400" b="0" dirty="0">
                <a:solidFill>
                  <a:srgbClr val="F5F7FA"/>
                </a:solidFill>
              </a:rPr>
              <a:t> к </a:t>
            </a:r>
            <a:r>
              <a:rPr sz="1400" b="0" dirty="0" err="1">
                <a:solidFill>
                  <a:srgbClr val="F5F7FA"/>
                </a:solidFill>
              </a:rPr>
              <a:t>отказу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от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ответа</a:t>
            </a:r>
            <a:r>
              <a:rPr sz="1400" b="0" dirty="0">
                <a:solidFill>
                  <a:srgbClr val="F5F7FA"/>
                </a:solidFill>
              </a:rPr>
              <a:t>.</a:t>
            </a:r>
          </a:p>
          <a:p>
            <a:pPr>
              <a:spcAft>
                <a:spcPts val="1200"/>
              </a:spcAft>
              <a:defRPr sz="1500" b="1">
                <a:solidFill>
                  <a:srgbClr val="FF8C32"/>
                </a:solidFill>
              </a:defRPr>
            </a:pPr>
            <a:r>
              <a:rPr dirty="0"/>
              <a:t>⚠ 2. </a:t>
            </a:r>
            <a:r>
              <a:rPr dirty="0" err="1"/>
              <a:t>Вопросы</a:t>
            </a:r>
            <a:r>
              <a:rPr dirty="0"/>
              <a:t> </a:t>
            </a:r>
            <a:r>
              <a:rPr dirty="0" err="1"/>
              <a:t>вне</a:t>
            </a:r>
            <a:r>
              <a:rPr dirty="0"/>
              <a:t> </a:t>
            </a:r>
            <a:r>
              <a:rPr dirty="0" err="1"/>
              <a:t>предметной</a:t>
            </a:r>
            <a:r>
              <a:rPr dirty="0"/>
              <a:t> </a:t>
            </a:r>
            <a:r>
              <a:rPr dirty="0" err="1"/>
              <a:t>области</a:t>
            </a:r>
            <a:r>
              <a:rPr dirty="0"/>
              <a:t> (Out-of-Scope): </a:t>
            </a:r>
            <a:r>
              <a:rPr sz="1400" b="0" dirty="0" err="1">
                <a:solidFill>
                  <a:srgbClr val="F5F7FA"/>
                </a:solidFill>
              </a:rPr>
              <a:t>Номера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аудиторий</a:t>
            </a:r>
            <a:r>
              <a:rPr sz="1400" b="0" dirty="0">
                <a:solidFill>
                  <a:srgbClr val="F5F7FA"/>
                </a:solidFill>
              </a:rPr>
              <a:t>, </a:t>
            </a:r>
            <a:r>
              <a:rPr sz="1400" b="0" dirty="0" err="1">
                <a:solidFill>
                  <a:srgbClr val="F5F7FA"/>
                </a:solidFill>
              </a:rPr>
              <a:t>расписание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звонков</a:t>
            </a:r>
            <a:r>
              <a:rPr sz="1400" b="0" dirty="0">
                <a:solidFill>
                  <a:srgbClr val="F5F7FA"/>
                </a:solidFill>
              </a:rPr>
              <a:t> и </a:t>
            </a:r>
            <a:r>
              <a:rPr sz="1400" b="0" dirty="0" err="1">
                <a:solidFill>
                  <a:srgbClr val="F5F7FA"/>
                </a:solidFill>
              </a:rPr>
              <a:t>пар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физически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отсутствуют</a:t>
            </a:r>
            <a:r>
              <a:rPr sz="1400" b="0" dirty="0">
                <a:solidFill>
                  <a:srgbClr val="F5F7FA"/>
                </a:solidFill>
              </a:rPr>
              <a:t> в ПУД (</a:t>
            </a:r>
            <a:r>
              <a:rPr sz="1400" b="0" dirty="0" err="1">
                <a:solidFill>
                  <a:srgbClr val="F5F7FA"/>
                </a:solidFill>
              </a:rPr>
              <a:t>они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хранятся</a:t>
            </a:r>
            <a:r>
              <a:rPr sz="1400" b="0" dirty="0">
                <a:solidFill>
                  <a:srgbClr val="F5F7FA"/>
                </a:solidFill>
              </a:rPr>
              <a:t> в </a:t>
            </a:r>
            <a:r>
              <a:rPr sz="1400" b="0" dirty="0" err="1">
                <a:solidFill>
                  <a:srgbClr val="F5F7FA"/>
                </a:solidFill>
              </a:rPr>
              <a:t>системе</a:t>
            </a:r>
            <a:r>
              <a:rPr sz="1400" b="0" dirty="0">
                <a:solidFill>
                  <a:srgbClr val="F5F7FA"/>
                </a:solidFill>
              </a:rPr>
              <a:t> РУЗ ВШЭ). </a:t>
            </a:r>
            <a:r>
              <a:rPr sz="1400" b="0" dirty="0" err="1">
                <a:solidFill>
                  <a:srgbClr val="F5F7FA"/>
                </a:solidFill>
              </a:rPr>
              <a:t>Модель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корректно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сообщает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об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отсутствии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данных</a:t>
            </a:r>
            <a:r>
              <a:rPr sz="1400" b="0" dirty="0">
                <a:solidFill>
                  <a:srgbClr val="F5F7FA"/>
                </a:solidFill>
              </a:rPr>
              <a:t>.</a:t>
            </a:r>
          </a:p>
          <a:p>
            <a:pPr>
              <a:spcAft>
                <a:spcPts val="1200"/>
              </a:spcAft>
              <a:defRPr sz="1500" b="1">
                <a:solidFill>
                  <a:srgbClr val="FF8C32"/>
                </a:solidFill>
              </a:defRPr>
            </a:pPr>
            <a:r>
              <a:rPr dirty="0"/>
              <a:t>⚠ 3. </a:t>
            </a:r>
            <a:r>
              <a:rPr dirty="0" err="1"/>
              <a:t>Сквозная</a:t>
            </a:r>
            <a:r>
              <a:rPr dirty="0"/>
              <a:t> </a:t>
            </a:r>
            <a:r>
              <a:rPr dirty="0" err="1"/>
              <a:t>табличная</a:t>
            </a:r>
            <a:r>
              <a:rPr dirty="0"/>
              <a:t> </a:t>
            </a:r>
            <a:r>
              <a:rPr dirty="0" err="1"/>
              <a:t>агрегация</a:t>
            </a:r>
            <a:r>
              <a:rPr dirty="0"/>
              <a:t>: </a:t>
            </a:r>
            <a:r>
              <a:rPr sz="1400" b="0" dirty="0" err="1">
                <a:solidFill>
                  <a:srgbClr val="F5F7FA"/>
                </a:solidFill>
              </a:rPr>
              <a:t>Вопросы</a:t>
            </a:r>
            <a:r>
              <a:rPr sz="1400" b="0" dirty="0">
                <a:solidFill>
                  <a:srgbClr val="F5F7FA"/>
                </a:solidFill>
              </a:rPr>
              <a:t> «</a:t>
            </a:r>
            <a:r>
              <a:rPr sz="1400" b="0" dirty="0" err="1">
                <a:solidFill>
                  <a:srgbClr val="F5F7FA"/>
                </a:solidFill>
              </a:rPr>
              <a:t>По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какому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предмету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больше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всего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кредитов</a:t>
            </a:r>
            <a:r>
              <a:rPr sz="1400" b="0" dirty="0">
                <a:solidFill>
                  <a:srgbClr val="F5F7FA"/>
                </a:solidFill>
              </a:rPr>
              <a:t>?» </a:t>
            </a:r>
            <a:r>
              <a:rPr sz="1400" b="0" dirty="0" err="1">
                <a:solidFill>
                  <a:srgbClr val="F5F7FA"/>
                </a:solidFill>
              </a:rPr>
              <a:t>требуют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одновременного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анализа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всех</a:t>
            </a:r>
            <a:r>
              <a:rPr sz="1400" b="0" dirty="0">
                <a:solidFill>
                  <a:srgbClr val="F5F7FA"/>
                </a:solidFill>
              </a:rPr>
              <a:t> 25 </a:t>
            </a:r>
            <a:r>
              <a:rPr sz="1400" b="0" dirty="0" err="1">
                <a:solidFill>
                  <a:srgbClr val="F5F7FA"/>
                </a:solidFill>
              </a:rPr>
              <a:t>документов</a:t>
            </a:r>
            <a:r>
              <a:rPr sz="1400" b="0" dirty="0">
                <a:solidFill>
                  <a:srgbClr val="F5F7FA"/>
                </a:solidFill>
              </a:rPr>
              <a:t>. </a:t>
            </a:r>
            <a:r>
              <a:rPr sz="1400" b="0" dirty="0" err="1">
                <a:solidFill>
                  <a:srgbClr val="F5F7FA"/>
                </a:solidFill>
              </a:rPr>
              <a:t>Стандартный</a:t>
            </a:r>
            <a:r>
              <a:rPr sz="1400" b="0" dirty="0">
                <a:solidFill>
                  <a:srgbClr val="F5F7FA"/>
                </a:solidFill>
              </a:rPr>
              <a:t> RAG </a:t>
            </a:r>
            <a:r>
              <a:rPr sz="1400" b="0" dirty="0" err="1">
                <a:solidFill>
                  <a:srgbClr val="F5F7FA"/>
                </a:solidFill>
              </a:rPr>
              <a:t>извлекает</a:t>
            </a:r>
            <a:r>
              <a:rPr sz="1400" b="0" dirty="0">
                <a:solidFill>
                  <a:srgbClr val="F5F7FA"/>
                </a:solidFill>
              </a:rPr>
              <a:t> top-k </a:t>
            </a:r>
            <a:r>
              <a:rPr sz="1400" b="0" dirty="0" err="1">
                <a:solidFill>
                  <a:srgbClr val="F5F7FA"/>
                </a:solidFill>
              </a:rPr>
              <a:t>фрагментов</a:t>
            </a:r>
            <a:r>
              <a:rPr sz="1400" b="0" dirty="0">
                <a:solidFill>
                  <a:srgbClr val="F5F7FA"/>
                </a:solidFill>
              </a:rPr>
              <a:t> и </a:t>
            </a:r>
            <a:r>
              <a:rPr sz="1400" b="0" dirty="0" err="1">
                <a:solidFill>
                  <a:srgbClr val="F5F7FA"/>
                </a:solidFill>
              </a:rPr>
              <a:t>не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может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посчитать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глобальный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максимум</a:t>
            </a:r>
            <a:r>
              <a:rPr sz="1400" b="0" dirty="0">
                <a:solidFill>
                  <a:srgbClr val="F5F7FA"/>
                </a:solidFill>
              </a:rPr>
              <a:t>.</a:t>
            </a:r>
          </a:p>
          <a:p>
            <a:pPr>
              <a:spcAft>
                <a:spcPts val="1200"/>
              </a:spcAft>
              <a:defRPr sz="1500" b="1">
                <a:solidFill>
                  <a:srgbClr val="FF8C32"/>
                </a:solidFill>
              </a:defRPr>
            </a:pPr>
            <a:r>
              <a:rPr dirty="0"/>
              <a:t>⚠ 4. </a:t>
            </a:r>
            <a:r>
              <a:rPr dirty="0" err="1"/>
              <a:t>Сравнение</a:t>
            </a:r>
            <a:r>
              <a:rPr dirty="0"/>
              <a:t> </a:t>
            </a:r>
            <a:r>
              <a:rPr dirty="0" err="1"/>
              <a:t>двух</a:t>
            </a:r>
            <a:r>
              <a:rPr dirty="0"/>
              <a:t> </a:t>
            </a:r>
            <a:r>
              <a:rPr dirty="0" err="1"/>
              <a:t>курсов</a:t>
            </a:r>
            <a:r>
              <a:rPr dirty="0"/>
              <a:t> </a:t>
            </a:r>
            <a:r>
              <a:rPr dirty="0" err="1"/>
              <a:t>сразу</a:t>
            </a:r>
            <a:r>
              <a:rPr lang="en-US" dirty="0"/>
              <a:t>: </a:t>
            </a:r>
            <a:r>
              <a:rPr sz="1400" b="0" dirty="0" err="1">
                <a:solidFill>
                  <a:srgbClr val="F5F7FA"/>
                </a:solidFill>
              </a:rPr>
              <a:t>Сопоставление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обычной</a:t>
            </a:r>
            <a:r>
              <a:rPr sz="1400" b="0" dirty="0">
                <a:solidFill>
                  <a:srgbClr val="F5F7FA"/>
                </a:solidFill>
              </a:rPr>
              <a:t> и </a:t>
            </a:r>
            <a:r>
              <a:rPr sz="1400" b="0" dirty="0" err="1">
                <a:solidFill>
                  <a:srgbClr val="F5F7FA"/>
                </a:solidFill>
              </a:rPr>
              <a:t>углубленной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программы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требует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параллельного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синтеза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двух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документов</a:t>
            </a:r>
            <a:r>
              <a:rPr sz="1400" b="0" dirty="0">
                <a:solidFill>
                  <a:srgbClr val="F5F7FA"/>
                </a:solidFill>
              </a:rPr>
              <a:t>, </a:t>
            </a:r>
            <a:r>
              <a:rPr sz="1400" b="0" dirty="0" err="1">
                <a:solidFill>
                  <a:srgbClr val="F5F7FA"/>
                </a:solidFill>
              </a:rPr>
              <a:t>что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может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приводить</a:t>
            </a:r>
            <a:r>
              <a:rPr sz="1400" b="0" dirty="0">
                <a:solidFill>
                  <a:srgbClr val="F5F7FA"/>
                </a:solidFill>
              </a:rPr>
              <a:t> к </a:t>
            </a:r>
            <a:r>
              <a:rPr sz="1400" b="0" dirty="0" err="1">
                <a:solidFill>
                  <a:srgbClr val="F5F7FA"/>
                </a:solidFill>
              </a:rPr>
              <a:t>упущению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мелких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деталей</a:t>
            </a:r>
            <a:r>
              <a:rPr sz="1400" b="0" dirty="0">
                <a:solidFill>
                  <a:srgbClr val="F5F7F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ОТБОРОЧНЫЙ ПРОЕКТ • VK &amp; МИЭМ НИУ ВШЭ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Что улучшить при наличии ещё двух дней: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500" b="1">
                <a:solidFill>
                  <a:srgbClr val="00D2FF"/>
                </a:solidFill>
              </a:defRPr>
            </a:pPr>
            <a:r>
              <a:rPr dirty="0"/>
              <a:t> 1. </a:t>
            </a:r>
            <a:r>
              <a:rPr dirty="0" err="1"/>
              <a:t>Гибридный</a:t>
            </a:r>
            <a:r>
              <a:rPr dirty="0"/>
              <a:t> </a:t>
            </a:r>
            <a:r>
              <a:rPr dirty="0" err="1"/>
              <a:t>поиск</a:t>
            </a:r>
            <a:r>
              <a:rPr dirty="0"/>
              <a:t> (Hybrid Search = BM25 + Embeddings): </a:t>
            </a:r>
            <a:r>
              <a:rPr sz="1400" b="0" dirty="0" err="1">
                <a:solidFill>
                  <a:srgbClr val="F5F7FA"/>
                </a:solidFill>
              </a:rPr>
              <a:t>Подключение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локальной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компактной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модели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векторов</a:t>
            </a:r>
            <a:r>
              <a:rPr sz="1400" b="0" dirty="0">
                <a:solidFill>
                  <a:srgbClr val="F5F7FA"/>
                </a:solidFill>
              </a:rPr>
              <a:t> (BGE-M3 / multilingual-e5) </a:t>
            </a:r>
            <a:r>
              <a:rPr sz="1400" b="0" dirty="0" err="1">
                <a:solidFill>
                  <a:srgbClr val="F5F7FA"/>
                </a:solidFill>
              </a:rPr>
              <a:t>для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понимания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синонимов</a:t>
            </a:r>
            <a:r>
              <a:rPr sz="1400" b="0" dirty="0">
                <a:solidFill>
                  <a:srgbClr val="F5F7FA"/>
                </a:solidFill>
              </a:rPr>
              <a:t>, </a:t>
            </a:r>
            <a:r>
              <a:rPr sz="1400" b="0" dirty="0" err="1">
                <a:solidFill>
                  <a:srgbClr val="F5F7FA"/>
                </a:solidFill>
              </a:rPr>
              <a:t>сленга</a:t>
            </a:r>
            <a:r>
              <a:rPr sz="1400" b="0" dirty="0">
                <a:solidFill>
                  <a:srgbClr val="F5F7FA"/>
                </a:solidFill>
              </a:rPr>
              <a:t> и </a:t>
            </a:r>
            <a:r>
              <a:rPr sz="1400" b="0" dirty="0" err="1">
                <a:solidFill>
                  <a:srgbClr val="F5F7FA"/>
                </a:solidFill>
              </a:rPr>
              <a:t>неточных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формулировок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без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риска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упереться</a:t>
            </a:r>
            <a:r>
              <a:rPr sz="1400" b="0" dirty="0">
                <a:solidFill>
                  <a:srgbClr val="F5F7FA"/>
                </a:solidFill>
              </a:rPr>
              <a:t> в </a:t>
            </a:r>
            <a:r>
              <a:rPr sz="1400" b="0" dirty="0" err="1">
                <a:solidFill>
                  <a:srgbClr val="F5F7FA"/>
                </a:solidFill>
              </a:rPr>
              <a:t>квоты</a:t>
            </a:r>
            <a:r>
              <a:rPr sz="1400" b="0" dirty="0">
                <a:solidFill>
                  <a:srgbClr val="F5F7FA"/>
                </a:solidFill>
              </a:rPr>
              <a:t> API.</a:t>
            </a:r>
          </a:p>
          <a:p>
            <a:pPr>
              <a:spcAft>
                <a:spcPts val="1200"/>
              </a:spcAft>
              <a:defRPr sz="1500" b="1">
                <a:solidFill>
                  <a:srgbClr val="00D2FF"/>
                </a:solidFill>
              </a:defRPr>
            </a:pPr>
            <a:r>
              <a:rPr lang="ru-RU" dirty="0"/>
              <a:t> </a:t>
            </a:r>
            <a:r>
              <a:rPr dirty="0"/>
              <a:t>2. </a:t>
            </a:r>
            <a:r>
              <a:rPr dirty="0" err="1"/>
              <a:t>Агентная</a:t>
            </a:r>
            <a:r>
              <a:rPr dirty="0"/>
              <a:t> </a:t>
            </a:r>
            <a:r>
              <a:rPr dirty="0" err="1"/>
              <a:t>маршрутизация</a:t>
            </a:r>
            <a:r>
              <a:rPr dirty="0"/>
              <a:t> (Agentic Router): </a:t>
            </a:r>
            <a:r>
              <a:rPr sz="1400" b="0" dirty="0" err="1">
                <a:solidFill>
                  <a:srgbClr val="F5F7FA"/>
                </a:solidFill>
              </a:rPr>
              <a:t>Интеллектуальное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разделение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типов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запросов</a:t>
            </a:r>
            <a:r>
              <a:rPr sz="1400" b="0" dirty="0">
                <a:solidFill>
                  <a:srgbClr val="F5F7FA"/>
                </a:solidFill>
              </a:rPr>
              <a:t>: </a:t>
            </a:r>
            <a:r>
              <a:rPr sz="1400" b="0" dirty="0" err="1">
                <a:solidFill>
                  <a:srgbClr val="F5F7FA"/>
                </a:solidFill>
              </a:rPr>
              <a:t>вопросы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по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содержанию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направлять</a:t>
            </a:r>
            <a:r>
              <a:rPr sz="1400" b="0" dirty="0">
                <a:solidFill>
                  <a:srgbClr val="F5F7FA"/>
                </a:solidFill>
              </a:rPr>
              <a:t> в RAG </a:t>
            </a:r>
            <a:r>
              <a:rPr sz="1400" b="0" dirty="0" err="1">
                <a:solidFill>
                  <a:srgbClr val="F5F7FA"/>
                </a:solidFill>
              </a:rPr>
              <a:t>по</a:t>
            </a:r>
            <a:r>
              <a:rPr sz="1400" b="0" dirty="0">
                <a:solidFill>
                  <a:srgbClr val="F5F7FA"/>
                </a:solidFill>
              </a:rPr>
              <a:t> ПУД, а </a:t>
            </a:r>
            <a:r>
              <a:rPr sz="1400" b="0" dirty="0" err="1">
                <a:solidFill>
                  <a:srgbClr val="F5F7FA"/>
                </a:solidFill>
              </a:rPr>
              <a:t>вопросы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об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аудиториях</a:t>
            </a:r>
            <a:r>
              <a:rPr sz="1400" b="0" dirty="0">
                <a:solidFill>
                  <a:srgbClr val="F5F7FA"/>
                </a:solidFill>
              </a:rPr>
              <a:t> и </a:t>
            </a:r>
            <a:r>
              <a:rPr sz="1400" b="0" dirty="0" err="1">
                <a:solidFill>
                  <a:srgbClr val="F5F7FA"/>
                </a:solidFill>
              </a:rPr>
              <a:t>расписании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пар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переадресовывать</a:t>
            </a:r>
            <a:r>
              <a:rPr sz="1400" b="0" dirty="0">
                <a:solidFill>
                  <a:srgbClr val="F5F7FA"/>
                </a:solidFill>
              </a:rPr>
              <a:t> в </a:t>
            </a:r>
            <a:r>
              <a:rPr sz="1400" b="0" dirty="0" err="1">
                <a:solidFill>
                  <a:srgbClr val="F5F7FA"/>
                </a:solidFill>
              </a:rPr>
              <a:t>открытый</a:t>
            </a:r>
            <a:r>
              <a:rPr sz="1400" b="0" dirty="0">
                <a:solidFill>
                  <a:srgbClr val="F5F7FA"/>
                </a:solidFill>
              </a:rPr>
              <a:t> API РУЗ ВШЭ.</a:t>
            </a:r>
          </a:p>
          <a:p>
            <a:pPr>
              <a:spcAft>
                <a:spcPts val="1200"/>
              </a:spcAft>
              <a:defRPr sz="1500" b="1">
                <a:solidFill>
                  <a:srgbClr val="00D2FF"/>
                </a:solidFill>
              </a:defRPr>
            </a:pPr>
            <a:r>
              <a:rPr dirty="0"/>
              <a:t> 3. </a:t>
            </a:r>
            <a:r>
              <a:rPr dirty="0" err="1"/>
              <a:t>Табличная</a:t>
            </a:r>
            <a:r>
              <a:rPr dirty="0"/>
              <a:t> </a:t>
            </a:r>
            <a:r>
              <a:rPr dirty="0" err="1"/>
              <a:t>аналитика</a:t>
            </a:r>
            <a:r>
              <a:rPr dirty="0"/>
              <a:t> (Text-to-SQL / Pandas): </a:t>
            </a:r>
            <a:r>
              <a:rPr sz="1400" b="0" dirty="0" err="1">
                <a:solidFill>
                  <a:srgbClr val="F5F7FA"/>
                </a:solidFill>
              </a:rPr>
              <a:t>Выгрузка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структурированных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параметров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курсов</a:t>
            </a:r>
            <a:r>
              <a:rPr sz="1400" b="0" dirty="0">
                <a:solidFill>
                  <a:srgbClr val="F5F7FA"/>
                </a:solidFill>
              </a:rPr>
              <a:t> (</a:t>
            </a:r>
            <a:r>
              <a:rPr sz="1400" b="0" dirty="0" err="1">
                <a:solidFill>
                  <a:srgbClr val="F5F7FA"/>
                </a:solidFill>
              </a:rPr>
              <a:t>кредиты</a:t>
            </a:r>
            <a:r>
              <a:rPr sz="1400" b="0" dirty="0">
                <a:solidFill>
                  <a:srgbClr val="F5F7FA"/>
                </a:solidFill>
              </a:rPr>
              <a:t>, </a:t>
            </a:r>
            <a:r>
              <a:rPr sz="1400" b="0" dirty="0" err="1">
                <a:solidFill>
                  <a:srgbClr val="F5F7FA"/>
                </a:solidFill>
              </a:rPr>
              <a:t>модули</a:t>
            </a:r>
            <a:r>
              <a:rPr sz="1400" b="0" dirty="0">
                <a:solidFill>
                  <a:srgbClr val="F5F7FA"/>
                </a:solidFill>
              </a:rPr>
              <a:t>, </a:t>
            </a:r>
            <a:r>
              <a:rPr sz="1400" b="0" dirty="0" err="1">
                <a:solidFill>
                  <a:srgbClr val="F5F7FA"/>
                </a:solidFill>
              </a:rPr>
              <a:t>часы</a:t>
            </a:r>
            <a:r>
              <a:rPr sz="1400" b="0" dirty="0">
                <a:solidFill>
                  <a:srgbClr val="F5F7FA"/>
                </a:solidFill>
              </a:rPr>
              <a:t>) в </a:t>
            </a:r>
            <a:r>
              <a:rPr sz="1400" b="0" dirty="0" err="1">
                <a:solidFill>
                  <a:srgbClr val="F5F7FA"/>
                </a:solidFill>
              </a:rPr>
              <a:t>сводную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таблицу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для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безошибочных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ответов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на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вопросы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сравнения</a:t>
            </a:r>
            <a:r>
              <a:rPr sz="1400" b="0" dirty="0">
                <a:solidFill>
                  <a:srgbClr val="F5F7FA"/>
                </a:solidFill>
              </a:rPr>
              <a:t> и </a:t>
            </a:r>
            <a:r>
              <a:rPr sz="1400" b="0" dirty="0" err="1">
                <a:solidFill>
                  <a:srgbClr val="F5F7FA"/>
                </a:solidFill>
              </a:rPr>
              <a:t>агрегации</a:t>
            </a:r>
            <a:r>
              <a:rPr sz="1400" b="0" dirty="0">
                <a:solidFill>
                  <a:srgbClr val="F5F7FA"/>
                </a:solidFill>
              </a:rPr>
              <a:t>.</a:t>
            </a:r>
          </a:p>
          <a:p>
            <a:pPr>
              <a:spcAft>
                <a:spcPts val="1200"/>
              </a:spcAft>
              <a:defRPr sz="1500" b="1">
                <a:solidFill>
                  <a:srgbClr val="00D2FF"/>
                </a:solidFill>
              </a:defRPr>
            </a:pPr>
            <a:r>
              <a:rPr dirty="0"/>
              <a:t> 4. </a:t>
            </a:r>
            <a:r>
              <a:rPr dirty="0" err="1"/>
              <a:t>Фильтрация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дисциплинам</a:t>
            </a:r>
            <a:r>
              <a:rPr dirty="0"/>
              <a:t> в UI: </a:t>
            </a:r>
            <a:r>
              <a:rPr sz="1400" b="0" dirty="0" err="1">
                <a:solidFill>
                  <a:srgbClr val="F5F7FA"/>
                </a:solidFill>
              </a:rPr>
              <a:t>Добавление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выпадающего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списка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конкретного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курса</a:t>
            </a:r>
            <a:r>
              <a:rPr sz="1400" b="0" dirty="0">
                <a:solidFill>
                  <a:srgbClr val="F5F7FA"/>
                </a:solidFill>
              </a:rPr>
              <a:t> в </a:t>
            </a:r>
            <a:r>
              <a:rPr sz="1400" b="0" dirty="0" err="1">
                <a:solidFill>
                  <a:srgbClr val="F5F7FA"/>
                </a:solidFill>
              </a:rPr>
              <a:t>боковой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панели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Streamlit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для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прицельных</a:t>
            </a:r>
            <a:r>
              <a:rPr sz="1400" b="0" dirty="0">
                <a:solidFill>
                  <a:srgbClr val="F5F7FA"/>
                </a:solidFill>
              </a:rPr>
              <a:t> </a:t>
            </a:r>
            <a:r>
              <a:rPr sz="1400" b="0" dirty="0" err="1">
                <a:solidFill>
                  <a:srgbClr val="F5F7FA"/>
                </a:solidFill>
              </a:rPr>
              <a:t>консультаций</a:t>
            </a:r>
            <a:r>
              <a:rPr sz="1400" b="0" dirty="0">
                <a:solidFill>
                  <a:srgbClr val="F5F7FA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787</Words>
  <Application>Microsoft Office PowerPoint</Application>
  <PresentationFormat>Широкоэкранный</PresentationFormat>
  <Paragraphs>40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qeq</cp:lastModifiedBy>
  <cp:revision>2</cp:revision>
  <dcterms:created xsi:type="dcterms:W3CDTF">2013-01-27T09:14:16Z</dcterms:created>
  <dcterms:modified xsi:type="dcterms:W3CDTF">2026-10-21T23:07:50Z</dcterms:modified>
  <cp:category/>
</cp:coreProperties>
</file>